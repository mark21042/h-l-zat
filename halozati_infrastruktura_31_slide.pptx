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DEFF9A"/>
                </a:solidFill>
              </a:defRPr>
            </a:pPr>
            <a:r>
              <a:t>Vállalati Hálózati Infrastruktúra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DAFFDE"/>
                </a:solidFill>
              </a:defRPr>
            </a:pPr>
            <a:r>
              <a:t>Hálózatüzemeltetési Projekt v8.0</a:t>
            </a:r>
          </a:p>
          <a:p>
            <a:pPr>
              <a:defRPr sz="2400">
                <a:solidFill>
                  <a:srgbClr val="DAFFDE"/>
                </a:solidFill>
              </a:defRPr>
            </a:pPr>
            <a:r>
              <a:t>Készítette: Bata Márk Dominik &amp; Garay Armand</a:t>
            </a:r>
          </a:p>
          <a:p>
            <a:pPr>
              <a:defRPr sz="2400">
                <a:solidFill>
                  <a:srgbClr val="DAFFDE"/>
                </a:solidFill>
              </a:defRPr>
            </a:pPr>
            <a:r>
              <a:t>Informatikai rendszer-üzemeltetők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>
                <a:solidFill>
                  <a:srgbClr val="DEFF9A"/>
                </a:solidFill>
              </a:defRPr>
            </a:pPr>
            <a:r>
              <a:t>Projekt Áttekintés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Hálózati Topológia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Budapest: Központi HUB (Collapsed Core). Minden belső szolgáltatás forráshelye és a WAN kapcsolatok központja.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Győr: Branch Office (ROAS). Költséghatékony telephelyi megoldás VLAN-ok kezelésére redundáns kapcsolattal.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Debrecen: Branch Office (ROAS). Vidéki kirendeltség, amely WAN redundanciával kapcsolódik a központhoz.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Projekt Célkitűzések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Biztonság: Többszintű védelem és VPN.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Redundancia: HSRP és PVST+ alkalmazása.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Skálázhatóság: Moduláris Core felépítés.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Központosítás: Centralizált menedzsment.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Fizikai Felépítés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 teljes vállalati hálózat logikai és fizikai elrendezése három telephely összekapcsolásával.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WAN redundancia és biztonsági zónák kialakítása a pesti maghálózat és a vidéki kirendeltségek között.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Budapest Core Réteg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L3 Switch-ek: A Core és Distribution réteg egyesítése két redundáns Layer 3 switch-ben (Pest-Core-SWO és SWI).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Központi Irányítás: Itt történik az összes belső VLAN útválasztása és a biztonsági házirendek kényszerítése.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Collapsed Core Előnyök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Alacsony Késleltetés (~0 ms).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Az architektúra drasztikusan csökkenti a hop-számot és a hálózati késleltetést a központi HUB-on belül.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Közvetlen kapcsolat a nagysebességű szerver-szegmens és az irodai hálózatok között.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Vidéki Sites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Router-on-a-Stick (ROAS)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Győrben és Debrecenben ezt a modellt alkalmaztuk a VLAN-ok közötti útválasztáshoz.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Költséghatékony megoldás, amely minimális hardver-erőforrással biztosítja a szegmentációt.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ROAS Működési Elv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 router alinterfészei végzik az útválasztást egyetlen fizikai trönk kábelen keresztül a switch felé.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Encapsulation dot1Q technológia alkalmazása.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Főbb Jellemzők: Logikai interfészek, Hatékony VLAN menedzsment, Redundáns WAN elérés.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>
                <a:solidFill>
                  <a:srgbClr val="DEFF9A"/>
                </a:solidFill>
              </a:defRPr>
            </a:pPr>
            <a:r>
              <a:t>Logikai Tervezés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VLAN Szegmentáció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VLAN ID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Funkció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Helyszín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DEFF9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10/11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Menedzsment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Pest / Vidék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Nem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20/21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Irodai dolgozók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Pest / Vidék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Nem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Szerverek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Pest (Központ)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Nem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60/61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Vendég WIFI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Pest / Vidék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Nem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Native 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Összes eszköz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DAFFDE"/>
                          </a:solidFill>
                        </a:defRPr>
                      </a:pPr>
                      <a:r>
                        <a:t>Igen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VLAN Előnyök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Forgalom: Hatékonyan korlátozzuk a broadcast forgalmat a hálózaton.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Biztonság: Logikai elkülönítés az érzékeny szerverek és a vendégek között.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Rugalmasság: Könnyű eszközmozgatás a fizikai portoktól függetlenül.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IP Stratégia -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Irodai szegmensek: /25 maszk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Hatékony Címgazdálkodás: A hálózati tartományokat Variable Length Subnet Masking (VLSM) eljárással osztottuk fel az igényeknek megfelelően.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Optimalizált alhálózati maszkok a pazarlás minimalizálása érdekében.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Alhálózati Felosztás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Menedzsment (/27): 30 cím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Szerverek (/28): 14 cím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Nyomtatók (/28): 14 cím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Redundancia - Layer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PVST+ Protokoll: Per-VLAN Spanning Tree Plus a hurokmentes topológiáért.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Root Bridge Stratégia: Determinisztikus gyökérhíd kijelölés.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PortFast &amp; BPDU Guard: Védelem és gyors konvergencia az access portokon.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A PVST+ Szerepe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 PVST+ lehetővé teszi, hogy minden VLAN saját Spanning Tree példánnyal rendelkezzen.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Ez optimális forgalomirányítást tesz lehetővé.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Redundáns linkek különböző VLAN-ok számára más-más útvonalon maradhatnak aktívak.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Native VLAN 99: A címkézetlen forgalom szétválasztása a biztonság érdekében.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STP Konvergencia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Alap STP: ~50 mp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PVST+ Optimalizált: ~30 mp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PortFast Aktiválva: ~1 mp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 PortFast használatával a végponti eszközök azonnal hálózati kapcsolatba léphetnek.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Root Bridge Beállítások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Pest-Core-SWO: Elsődleges Root Bridge (priority 4096)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Pest-Core-SW1: Másodlagos Root Bridge (priority 8192)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Elkerültük az automatikus választást a hálózat stabilitása érdekében.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>
                <a:solidFill>
                  <a:srgbClr val="DEFF9A"/>
                </a:solidFill>
              </a:defRPr>
            </a:pPr>
            <a:r>
              <a:t>Layer 3 Redundancia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HSRP Architektúra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Virtuális IP Cím (VIP): A kliensek csak a Virtuális IP-t látják alapértelmezett átjáróként.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Active/Standby: Mindig egy router kezeli a forgalmat, a másik készenlétben van.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Preemption: Az SWO automatikusan visszaveszi a szerepkört hiba után.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HSRP Failover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Hiba: SWO váratlanul kiesik (0 ms).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Észlelés: SWI hello hiányt jelez (~1 s).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Átállás: SWI aktívvá válik (~3 s).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Kész: Forgalom zavartalan.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>
                <a:solidFill>
                  <a:srgbClr val="DEFF9A"/>
                </a:solidFill>
              </a:defRPr>
            </a:pPr>
            <a:r>
              <a:t>Központi Szerverek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Windows Server 2022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WINSRV (172.16.0.50)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 hálózat központi irányítási pontja a budapesti telephelyen.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Operációs rendszer: Windows Server Core / GUI hibrid környezet a hatékonyság és kezelhetőség egyensúlyáért.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Active Directory (AD 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Felhasználók: Központi azonosítás és hozzáférés-kezelés az ingen.hu tartományban.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Eszközök: Vállalati PC-k és laptopok tartományba léptetése és felügyelete.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Struktúra: OU alapú felosztás a telephelyeknek megfelelően.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DHCP &amp; IP-Helper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Automatizált Címkiosztás: A kliensek minden VLAN-ban automatikusan kapják az IP konfigurációt.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Helper Address: A routerek és switchek továbbítják a DHCP kéréseket a szerver felé.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DNS - Névfeloldás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ingen.hu zóna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 belső hálózaton a WINSRV végzi a névfeloldást.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Külső kérések esetén továbbítja azokat (Forwarders: 8.8.8.8).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A-rekordok, CNAME szolgáltatások és PTR reverse DNS beállítások.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Csoportházirendek (GPO)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"Az egységes biztonsági szabályok kényszerítése az összes tartományba léptetett gépen elengedhetetlen a modern vállalati környezetben."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Tűzfal kontroll, háttérképek és szoftverfrissítési szabályok.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>
                <a:solidFill>
                  <a:srgbClr val="DEFF9A"/>
                </a:solidFill>
              </a:defRPr>
            </a:pPr>
            <a:r>
              <a:t>Linux Megoldások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Apache Webszerver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LINSRV (172.16.0.51): A belső vállalati portál (Intranet) stabil kiszolgálója Linux alapon.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Dokumentumok, hirdetmények és belső eszközök elérhetősége a dolgozók számára.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Biztonság (SSH &amp; RSA): Jelszó alapú hitelesítés kiváltása RSA kulcspárral.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Hálózati Védelem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ASA Tűzfal: Stateful Inspection szűrés az internet felől három aktív zónával.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VPN Alagút: AES-256 bites titkosított Site-to-Site kapcsolat a telephelyek között.</a:t>
            </a:r>
          </a:p>
          <a:p>
            <a:pPr>
              <a:spcAft>
                <a:spcPts val="1000"/>
              </a:spcAft>
              <a:defRPr sz="2000">
                <a:solidFill>
                  <a:srgbClr val="DAFFDE"/>
                </a:solidFill>
              </a:defRPr>
            </a:pPr>
            <a:r>
              <a:t>• NAT/PAT: Dinamikus PAT a belső eszközök internetelérésének biztosítására.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DEFF9A"/>
                </a:solidFill>
              </a:defRPr>
            </a:pPr>
            <a:r>
              <a:t>Kérdések és Válaszok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DAFFDE"/>
                </a:solidFill>
              </a:defRPr>
            </a:pPr>
            <a:r>
              <a:t>Köszönjük a megtisztelő figyelmet!</a:t>
            </a:r>
          </a:p>
          <a:p>
            <a:pPr>
              <a:defRPr sz="2400">
                <a:solidFill>
                  <a:srgbClr val="DAFFDE"/>
                </a:solidFill>
              </a:defRPr>
            </a:pPr>
            <a:r>
              <a:t>Bata Márk Dominik &amp; Garay Armand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